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94" r:id="rId4"/>
    <p:sldId id="266" r:id="rId5"/>
    <p:sldId id="290" r:id="rId6"/>
    <p:sldId id="261" r:id="rId7"/>
    <p:sldId id="297" r:id="rId8"/>
    <p:sldId id="291" r:id="rId9"/>
    <p:sldId id="295" r:id="rId10"/>
    <p:sldId id="289" r:id="rId11"/>
    <p:sldId id="292" r:id="rId12"/>
    <p:sldId id="263" r:id="rId13"/>
    <p:sldId id="296" r:id="rId14"/>
    <p:sldId id="288" r:id="rId15"/>
    <p:sldId id="293" r:id="rId16"/>
    <p:sldId id="298" r:id="rId17"/>
    <p:sldId id="299" r:id="rId18"/>
  </p:sldIdLst>
  <p:sldSz cx="9144000" cy="6858000" type="screen4x3"/>
  <p:notesSz cx="6858000" cy="9144000"/>
  <p:embeddedFontLst>
    <p:embeddedFont>
      <p:font typeface="Archivo Narrow" panose="020B0604020202020204" charset="0"/>
      <p:regular r:id="rId20"/>
      <p:bold r:id="rId21"/>
      <p:italic r:id="rId22"/>
      <p:boldItalic r:id="rId23"/>
    </p:embeddedFont>
    <p:embeddedFont>
      <p:font typeface="Book Antiqua" panose="02040602050305030304" pitchFamily="18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1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75447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183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074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497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8810614-5FA0-CEBF-D2F5-C100E395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421D56E2-AC99-2160-9B6B-D4B9B66D6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951A8D70-F9F6-7A74-E54C-96CB4B575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928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00B9F832-9966-D0A0-424D-4C66F0F88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EDBE490C-6BD4-998A-15EB-C7CF6159B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61508F8A-9907-61C7-53C4-4F99A155B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8156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115FF4C6-EF93-AD80-AF33-4523B853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2C793312-CFE3-9EDA-107C-1BAEB4684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FC896517-A33A-AD77-92E4-ECAD67345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7204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700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C3F2F7B5-1CA6-2659-A211-41ABDDB8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FAB58D5D-AD10-7038-6B22-C17DFC724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F2E1A9B1-F32C-4062-A0E5-5E1C63C95A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05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126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B03BA4A-D002-D4EC-B400-27911EBD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280346E3-8B6C-4249-B516-15889908F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A415AF37-A3BA-874B-CA11-C879F6FBB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735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199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020589EB-8BDC-36D2-801E-5A2619F7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>
            <a:extLst>
              <a:ext uri="{FF2B5EF4-FFF2-40B4-BE49-F238E27FC236}">
                <a16:creationId xmlns:a16="http://schemas.microsoft.com/office/drawing/2014/main" id="{178878D5-8DCF-9596-5708-4ACC877FB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>
            <a:extLst>
              <a:ext uri="{FF2B5EF4-FFF2-40B4-BE49-F238E27FC236}">
                <a16:creationId xmlns:a16="http://schemas.microsoft.com/office/drawing/2014/main" id="{6438A4D9-B9E3-5E4E-47C6-70B4584F4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016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Shape 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0546" y="342390"/>
            <a:ext cx="2463805" cy="77936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Shape 2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Shape 2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Shape 5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Shape 5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ctrTitle"/>
          </p:nvPr>
        </p:nvSpPr>
        <p:spPr>
          <a:xfrm>
            <a:off x="832981" y="1478783"/>
            <a:ext cx="7478038" cy="19502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Digital Twins for Predictive Disaster Intelligence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60320" y="4197927"/>
            <a:ext cx="60156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Details: Indla Sai Sneha(2362080)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Srivatsalya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Bhavaraju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(2362052)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Jonathan S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Pulickal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(2362092)</a:t>
            </a:r>
            <a:b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Anurag Reddy Thumma(2362036)</a:t>
            </a:r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Dr. Manjunatha Swamy C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spcAft>
                <a:spcPts val="600"/>
              </a:spcAf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4CAD7C-406B-CB81-954C-EC95190A13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B033-67B8-079C-D7FA-CDCB833A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6828-99F5-CE88-733E-308A0134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Picture 3" descr="Sustainable Earth: Disasters - National Geographic | National Geographic">
            <a:extLst>
              <a:ext uri="{FF2B5EF4-FFF2-40B4-BE49-F238E27FC236}">
                <a16:creationId xmlns:a16="http://schemas.microsoft.com/office/drawing/2014/main" id="{3F5FA698-9B36-32A0-3E8A-E40555BE7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81942"/>
            <a:ext cx="4141075" cy="224705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36E1A-84C8-04AD-3C1D-2CA102448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379779"/>
            <a:ext cx="7216500" cy="271299"/>
          </a:xfrm>
        </p:spPr>
        <p:txBody>
          <a:bodyPr/>
          <a:lstStyle/>
          <a:p>
            <a:pPr marL="88900" lv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Courtesy: Google</a:t>
            </a:r>
          </a:p>
        </p:txBody>
      </p:sp>
      <p:pic>
        <p:nvPicPr>
          <p:cNvPr id="5" name="Picture 4" descr="Floods, wildfire and storms: what is the EU's disaster response? | Topics |  European Parliament">
            <a:extLst>
              <a:ext uri="{FF2B5EF4-FFF2-40B4-BE49-F238E27FC236}">
                <a16:creationId xmlns:a16="http://schemas.microsoft.com/office/drawing/2014/main" id="{48F38320-31D6-1794-0D1C-9CF48C70C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441" y="3857521"/>
            <a:ext cx="4370128" cy="2282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99264A-BF70-EC37-0D62-62A563173196}"/>
              </a:ext>
            </a:extLst>
          </p:cNvPr>
          <p:cNvSpPr txBox="1"/>
          <p:nvPr/>
        </p:nvSpPr>
        <p:spPr>
          <a:xfrm>
            <a:off x="4477407" y="718201"/>
            <a:ext cx="45930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natural disasters, traditional emergency response operations are reactive, mapping structural damage only after it occurs.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lag creates critical logistical bottlenecks, including supply shortages and misallocated relief teams.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proposes a retrospective, replay-driven Spatiotemporal Digital Twin designed for Indian urban flooding scenarios.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0CC8F-C043-35C3-7191-DE934577FD20}"/>
              </a:ext>
            </a:extLst>
          </p:cNvPr>
          <p:cNvSpPr txBox="1"/>
          <p:nvPr/>
        </p:nvSpPr>
        <p:spPr>
          <a:xfrm>
            <a:off x="92707" y="3517457"/>
            <a:ext cx="45790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fuses open-source geospatial infrastructure networks with regional, code-mixed social media distress signals.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vulnerability-aware optimization engine ensures that resource allocation is equitable and does not penalize under-reporting areas.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via a three-way ablation study to quantify the fused pipeline's performance gain.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6A267-7693-C611-26D2-FEBCE1007D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09162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Shape 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disaster management systems rely on fragmented, reactive data, creating severe resource allocation delays. Furthermore, optimization engines rely heavily on English-centric social media data, which systematically under-serves marginalized, low-connectivity populations who lack smartphone access or speak regional languages, leading to biased and inequitable disaster relief operations.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C84F0-6B6F-B26D-5B0A-92F20E4EDD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0393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5FDE-5138-CB9A-9C0C-2FCF451D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CA52-3984-B267-B5CE-591F45AE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Shape 118">
            <a:extLst>
              <a:ext uri="{FF2B5EF4-FFF2-40B4-BE49-F238E27FC236}">
                <a16:creationId xmlns:a16="http://schemas.microsoft.com/office/drawing/2014/main" id="{2DC57BC0-B575-2D8E-3972-3C32073545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integrated, retrospective spatiotemporal simulation engine that replays historical, timestamped urban flood data to model dynamic ground realities.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a multilingual and code-mixed NLP pipeline (using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IndicBERT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/MuRIL) capable of geoparsing local-language distress signals in an Indian urban context.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construct an interdependent infrastructure risk graph using OpenStreetMap to model cascading structural failures via Graph Neural Networks (GNNs).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engineer an equity-constrained resource allocation optimizer using demographic vulnerability index data (Census 2011) to balance response times fairly across high and low reporting zones.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DF7B17-A4E7-7866-4E52-2F96A06E0B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5803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 Study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356867"/>
            <a:ext cx="8060775" cy="27419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papers referred: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89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Categorized into:</a:t>
            </a:r>
          </a:p>
          <a:p>
            <a:pPr marL="889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Survey/Review papers (6):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 reviews of ML, DL, GNN, and spatiotemporal forecasting techniques</a:t>
            </a:r>
          </a:p>
          <a:p>
            <a:pPr marL="889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papers (9):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 specific models —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ConvLSTM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Graph VAE, ST-GNN, uncertainty-aware GNN, etc.</a:t>
            </a:r>
          </a:p>
          <a:p>
            <a:pPr marL="889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Domain-application papers (4):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AI/graph methods to related domains — IoT early warning, vehicle crash prediction, LLMs, infrastructure reliability</a:t>
            </a:r>
          </a:p>
          <a:p>
            <a:pPr marL="889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these,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papers were identified as most relevant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our project based on direct alignment with disaster prediction and spatiotemporal graph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D7D779-EFF6-A35D-CB8F-D115650E98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0903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74219610-B985-CB0F-7729-11DDCE06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>
            <a:extLst>
              <a:ext uri="{FF2B5EF4-FFF2-40B4-BE49-F238E27FC236}">
                <a16:creationId xmlns:a16="http://schemas.microsoft.com/office/drawing/2014/main" id="{B3169E1E-D25B-1BDE-1721-421D9FACD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 Study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0B6B6CE3-DFAD-CFFE-454C-FF99A4550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56867"/>
            <a:ext cx="8060775" cy="27419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 algn="just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and Landscape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Systems (One Concern, ArcGIS):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tools use physics-informed GNNs or enterprise dashboards to model asset downtime and map live shelter status. However, these are enterprise-priced, closed-source, and assume high-fidelity local sensory networks.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Informatics Frameworks: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pipelines extract geolocation data from English-language social media benchmarks (e.g.,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CrisisNLP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but fail to address regional language variations or the systemic biases of social-media-driven data.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Cascade Modelling: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academic models treat structural network failures as a static, one-shot classification task, ignoring the temporal propagation of cascading failures across multiple connected domains.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4DF367-0CE0-1DF6-2B29-8B7560010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6543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C5873AF-76F5-7D29-7918-506024E6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>
            <a:extLst>
              <a:ext uri="{FF2B5EF4-FFF2-40B4-BE49-F238E27FC236}">
                <a16:creationId xmlns:a16="http://schemas.microsoft.com/office/drawing/2014/main" id="{DBB40EF8-C38F-8DA2-4777-A987FBA6E3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 Study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C759B5E2-6C03-AB02-386D-1AD2E1A4B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734925"/>
            <a:ext cx="8060775" cy="2363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Gaps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Zero-Budget Reproducibility: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closed commercial systems, this project operates completely on free, open public data sources (IMD, OSM, Census).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 Inclusivity: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pipeline addresses the English-only dataset bias by fine-tuning multilingual models on local, code-mixed text data.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Equity-Driven Allocation: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traditional models optimize solely for raw speed or demand volume, this framework introduces a precomputed vulnerability index constraint so under-reporting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not overlooked.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E67E00-260B-3123-090C-26DA30D961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59711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5EA376B-1CDD-A692-4219-E0E61F46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>
            <a:extLst>
              <a:ext uri="{FF2B5EF4-FFF2-40B4-BE49-F238E27FC236}">
                <a16:creationId xmlns:a16="http://schemas.microsoft.com/office/drawing/2014/main" id="{DCDF1DFA-5F3D-7B01-AB1A-C010C730B0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 Study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386966-8AEA-BA68-4891-E6A42F21A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54337"/>
              </p:ext>
            </p:extLst>
          </p:nvPr>
        </p:nvGraphicFramePr>
        <p:xfrm>
          <a:off x="725213" y="1172849"/>
          <a:ext cx="7767144" cy="515562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50375">
                  <a:extLst>
                    <a:ext uri="{9D8B030D-6E8A-4147-A177-3AD203B41FA5}">
                      <a16:colId xmlns:a16="http://schemas.microsoft.com/office/drawing/2014/main" val="1493239812"/>
                    </a:ext>
                  </a:extLst>
                </a:gridCol>
                <a:gridCol w="1938923">
                  <a:extLst>
                    <a:ext uri="{9D8B030D-6E8A-4147-A177-3AD203B41FA5}">
                      <a16:colId xmlns:a16="http://schemas.microsoft.com/office/drawing/2014/main" val="2989091409"/>
                    </a:ext>
                  </a:extLst>
                </a:gridCol>
                <a:gridCol w="1938923">
                  <a:extLst>
                    <a:ext uri="{9D8B030D-6E8A-4147-A177-3AD203B41FA5}">
                      <a16:colId xmlns:a16="http://schemas.microsoft.com/office/drawing/2014/main" val="2881297436"/>
                    </a:ext>
                  </a:extLst>
                </a:gridCol>
                <a:gridCol w="1938923">
                  <a:extLst>
                    <a:ext uri="{9D8B030D-6E8A-4147-A177-3AD203B41FA5}">
                      <a16:colId xmlns:a16="http://schemas.microsoft.com/office/drawing/2014/main" val="3065193678"/>
                    </a:ext>
                  </a:extLst>
                </a:gridCol>
              </a:tblGrid>
              <a:tr h="259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Paper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Year &amp; Method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Research Gap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How Our Project Fills It</a:t>
                      </a:r>
                    </a:p>
                  </a:txBody>
                  <a:tcPr marL="82311" marR="82311" marT="41155" marB="41155" anchor="ctr"/>
                </a:tc>
                <a:extLst>
                  <a:ext uri="{0D108BD9-81ED-4DB2-BD59-A6C34878D82A}">
                    <a16:rowId xmlns:a16="http://schemas.microsoft.com/office/drawing/2014/main" val="132662553"/>
                  </a:ext>
                </a:extLst>
              </a:tr>
              <a:tr h="154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#1 — Spatial and Temporal Patterns for Disaster Prediction Using the Global Disaster Dataset</a:t>
                      </a:r>
                      <a:endParaRPr lang="en-IN" sz="1300"/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2025, ConvLSTM/LSTM/GNN on EM-DAT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No real-time data integration, no climate-change factoring, no regional adaptability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Our model incorporates real-time/streaming data feeds and region-specific graph structures to adapt predictions locally, closing the adaptability gap</a:t>
                      </a:r>
                    </a:p>
                  </a:txBody>
                  <a:tcPr marL="82311" marR="82311" marT="41155" marB="41155" anchor="ctr"/>
                </a:tc>
                <a:extLst>
                  <a:ext uri="{0D108BD9-81ED-4DB2-BD59-A6C34878D82A}">
                    <a16:rowId xmlns:a16="http://schemas.microsoft.com/office/drawing/2014/main" val="3932022201"/>
                  </a:ext>
                </a:extLst>
              </a:tr>
              <a:tr h="154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#16 — Dynamic Crisis Propagation Modeling using ST-GNN</a:t>
                      </a:r>
                      <a:endParaRPr lang="en-IN" sz="1300"/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2025, Grasshopper-Optimized ST-GNN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Heavily dependent on geotagged social media data, limiting reliability and coverage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Our project reduces this dependency by fusing multiple spatiotemporal data sources (not just social media) for more robust crisis propagation </a:t>
                      </a:r>
                      <a:r>
                        <a:rPr lang="en-IN" sz="1300" dirty="0" err="1"/>
                        <a:t>modeling</a:t>
                      </a:r>
                      <a:endParaRPr lang="en-IN" sz="1300" dirty="0"/>
                    </a:p>
                  </a:txBody>
                  <a:tcPr marL="82311" marR="82311" marT="41155" marB="41155" anchor="ctr"/>
                </a:tc>
                <a:extLst>
                  <a:ext uri="{0D108BD9-81ED-4DB2-BD59-A6C34878D82A}">
                    <a16:rowId xmlns:a16="http://schemas.microsoft.com/office/drawing/2014/main" val="2085392443"/>
                  </a:ext>
                </a:extLst>
              </a:tr>
              <a:tr h="154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#19 — GraphVSSM for Disaster Resilience Assessment</a:t>
                      </a:r>
                      <a:endParaRPr lang="en-IN" sz="1300"/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2025, Graph State Space Model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Computationally expensive and region-specific, limiting scalability</a:t>
                      </a:r>
                    </a:p>
                  </a:txBody>
                  <a:tcPr marL="82311" marR="82311" marT="41155" marB="41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Our project targets a more computationally efficient graph representation approach that generalizes across regions, rather than being tuned to one</a:t>
                      </a:r>
                    </a:p>
                  </a:txBody>
                  <a:tcPr marL="82311" marR="82311" marT="41155" marB="41155" anchor="ctr"/>
                </a:tc>
                <a:extLst>
                  <a:ext uri="{0D108BD9-81ED-4DB2-BD59-A6C34878D82A}">
                    <a16:rowId xmlns:a16="http://schemas.microsoft.com/office/drawing/2014/main" val="6872239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449AE-C412-8F47-014D-553BE82E97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9255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40423"/>
            <a:ext cx="8403675" cy="45456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i5/i7 (8th Gen or above) or AMD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5/7 equivalent CPU.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16 GB RAM for handling large geospatial spatial joins and graph calculations.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512 GB Solid State Drive (SSD) for fast file caching and local dataset processing.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Acceleration: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NVIDIA T4 or A100 GPU (accessed via free-tier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Kaggle Notebooks) for GNN and transformer model fine-tuning. </a:t>
            </a:r>
          </a:p>
          <a:p>
            <a:pPr marL="8890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EE3C0-D382-B29A-A38B-8B7170CBB1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8895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45140584-F95F-DB16-B9A2-B494AF31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>
            <a:extLst>
              <a:ext uri="{FF2B5EF4-FFF2-40B4-BE49-F238E27FC236}">
                <a16:creationId xmlns:a16="http://schemas.microsoft.com/office/drawing/2014/main" id="{8302C253-3EC7-5EC8-8130-B5CFC6075A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0A6B6E43-2432-07F2-807C-92681F93A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40423"/>
            <a:ext cx="8403675" cy="45456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11 / Linux (Ubuntu) / macOS.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Environment: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3.11 runtime environment.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&amp; Graph Libraries: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osmnx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Stack: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Geometric (for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GraphSAGE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/GAT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&amp; Geoparsing Toolkits: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/MuRIL)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Frameworks: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OR-Tools 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Folium,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SQLite/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DuckDB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EEB40-4812-28F8-1E02-E34E388150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4093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344865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pPr marL="88900" indent="0">
              <a:buNone/>
            </a:pPr>
            <a:endParaRPr lang="en-IN" sz="2500" dirty="0">
              <a:latin typeface="Book Antiqua" panose="02040602050305030304" pitchFamily="18" charset="0"/>
            </a:endParaRPr>
          </a:p>
        </p:txBody>
      </p:sp>
      <p:sp>
        <p:nvSpPr>
          <p:cNvPr id="6" name="Shape 124"/>
          <p:cNvSpPr txBox="1">
            <a:spLocks/>
          </p:cNvSpPr>
          <p:nvPr/>
        </p:nvSpPr>
        <p:spPr>
          <a:xfrm>
            <a:off x="238127" y="775405"/>
            <a:ext cx="8403675" cy="454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Project Foundation (Completed)</a:t>
            </a:r>
          </a:p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existing flood management and AI-based disaster response systems.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gaps and opportunities for implementation novelty.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the overall project methodology and system workflow. </a:t>
            </a:r>
          </a:p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 comprehensive literature survey to understand current approaches.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project novelty by integrating NLP, Graph Neural Networks, and optimization into a unified disaster response framework.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publicly available datasets (IMD, CWC, Census, OpenStreetMap, etc.) as potential data sources; dataset selection is still under evaluation.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phase-wise implementation plan and system architecture for subsequent development. </a:t>
            </a:r>
          </a:p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clear implementation roadmap, identified research gaps, preliminary dataset exploration, and a finalized methodology for project execution.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0342F-EF42-B05C-D635-9EE6FA6854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644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B3E1DF34-C1F2-8814-4445-825EA219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>
            <a:extLst>
              <a:ext uri="{FF2B5EF4-FFF2-40B4-BE49-F238E27FC236}">
                <a16:creationId xmlns:a16="http://schemas.microsoft.com/office/drawing/2014/main" id="{C7514B59-1612-EA2F-BFB3-FA07201E6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44876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B327D390-D0CA-FF5E-71B2-99F94A3FF9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pPr marL="88900" indent="0">
              <a:buNone/>
            </a:pPr>
            <a:endParaRPr lang="en-IN" sz="2500" dirty="0">
              <a:latin typeface="Book Antiqua" panose="02040602050305030304" pitchFamily="18" charset="0"/>
            </a:endParaRPr>
          </a:p>
        </p:txBody>
      </p:sp>
      <p:sp>
        <p:nvSpPr>
          <p:cNvPr id="6" name="Shape 124">
            <a:extLst>
              <a:ext uri="{FF2B5EF4-FFF2-40B4-BE49-F238E27FC236}">
                <a16:creationId xmlns:a16="http://schemas.microsoft.com/office/drawing/2014/main" id="{44000BA6-271D-C31E-9ADA-29BE56067F8B}"/>
              </a:ext>
            </a:extLst>
          </p:cNvPr>
          <p:cNvSpPr txBox="1">
            <a:spLocks/>
          </p:cNvSpPr>
          <p:nvPr/>
        </p:nvSpPr>
        <p:spPr>
          <a:xfrm>
            <a:off x="311699" y="926626"/>
            <a:ext cx="8403675" cy="454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NLP &amp; Geoparsing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relevant datasets and preprocess multilingual distress data.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the transformer model for distress classification.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extracted information to geographical coordinates. </a:t>
            </a:r>
          </a:p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GNN &amp; Replay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infrastructure graph from spatial data.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GraphSAGE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to simulate cascading failures.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asynchronous time-stepped replay framework. </a:t>
            </a:r>
          </a:p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Fusion &amp; Validation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distress, infrastructure, and vulnerability indicators into a unified index.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ablation studies.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effectiveness of the integrated framework. </a:t>
            </a:r>
          </a:p>
          <a:p>
            <a:pPr marL="889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Optimization &amp; Dashboard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equity-aware resource allocation algorithm.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visualization and monitoring.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testing, documentation, and the final project report.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184EF6-F25A-A173-3842-CF1AD088B2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82698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64706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pPr marL="88900" indent="0">
              <a:buNone/>
            </a:pPr>
            <a:endParaRPr lang="en-IN" sz="2500" dirty="0">
              <a:latin typeface="Book Antiqua" panose="02040602050305030304" pitchFamily="18" charset="0"/>
            </a:endParaRPr>
          </a:p>
        </p:txBody>
      </p:sp>
      <p:sp>
        <p:nvSpPr>
          <p:cNvPr id="6" name="Shape 124"/>
          <p:cNvSpPr txBox="1">
            <a:spLocks/>
          </p:cNvSpPr>
          <p:nvPr/>
        </p:nvSpPr>
        <p:spPr>
          <a:xfrm>
            <a:off x="311700" y="1540423"/>
            <a:ext cx="8403675" cy="454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X. Author, "Spatial and Temporal Patterns for Disaster Prediction Using the Global Disaster Dataset,"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Disaster Prediction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2, pp. 45–58, 2025.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Y. Author, "Learning to Reconstruct Missing Data from Spatiotemporal Graphs with Sparse Observations,"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Knowledge and Data Engineering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34, no. 8, pp. 1102–1115, 2022.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Z. Author, "Early Natural Disaster Prediction Using Machine Learning: A Comprehensive Review,"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and Assessment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197, no. 3, pp. 215–230, 2025.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W. Author, "Survey of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-Temporal Graph Neural Networks,"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Computing Surveys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56, no. 4, pp. 89–104, 2024.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V. Author, "AI-Driven Disaster Prediction and Early Warning Systems,"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 and Prevention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1, pp. 67–82, 2024.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U. Author, "ST-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GraphNet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Vehicle Crash Severity Prediction,"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Intelligent Transportation Systems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26, no. 2, pp. 340–355, 2025. </a:t>
            </a:r>
          </a:p>
          <a:p>
            <a:pPr marL="889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0AE659-9DFC-A98C-AFBE-4D8946B58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86774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3164D7E3-0FE3-79F7-BD79-B709D7B4A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>
            <a:extLst>
              <a:ext uri="{FF2B5EF4-FFF2-40B4-BE49-F238E27FC236}">
                <a16:creationId xmlns:a16="http://schemas.microsoft.com/office/drawing/2014/main" id="{4494A61D-9ACB-A9D8-86F8-3FBE10461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4706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00EC1103-3A99-96D8-C5F9-257C6D654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pPr marL="88900" indent="0">
              <a:buNone/>
            </a:pPr>
            <a:endParaRPr lang="en-IN" sz="2500" dirty="0">
              <a:latin typeface="Book Antiqua" panose="02040602050305030304" pitchFamily="18" charset="0"/>
            </a:endParaRPr>
          </a:p>
        </p:txBody>
      </p:sp>
      <p:sp>
        <p:nvSpPr>
          <p:cNvPr id="6" name="Shape 124">
            <a:extLst>
              <a:ext uri="{FF2B5EF4-FFF2-40B4-BE49-F238E27FC236}">
                <a16:creationId xmlns:a16="http://schemas.microsoft.com/office/drawing/2014/main" id="{67CDBFB0-F715-CC17-9909-E283E79AFB37}"/>
              </a:ext>
            </a:extLst>
          </p:cNvPr>
          <p:cNvSpPr txBox="1">
            <a:spLocks/>
          </p:cNvSpPr>
          <p:nvPr/>
        </p:nvSpPr>
        <p:spPr>
          <a:xfrm>
            <a:off x="311700" y="1540423"/>
            <a:ext cx="8403675" cy="454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T. Author, "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GraphCSVAE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Physical Vulnerability Assessment,"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and Spatial Analytics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5, pp. 512–527, 2025.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S. Author, "Survey on Temporal Interaction Graph Representation Learning,"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47, no. 6, pp. 1420–1435, 2025.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R. Author, "UQGNN: Uncertainty Quantification for Spatiotemporal Prediction,"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Forecasting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41, no. 1, pp. 98–112, 2025.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Q. Author, "GNNs for Infrastructure Reliability and Resilience,"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Engineering &amp; System Safety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242, p. 109720, 2025.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P. Author, "Adversarial Spatiotemporal Graph Learning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)," in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Machine Learning (ICML)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2025, pp. 1430–1445. </a:t>
            </a:r>
          </a:p>
          <a:p>
            <a:pPr marL="889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O. Author, "CC-GRMAS: Multi-Agent Graph Neural System for Landslide Risk,"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&amp; Geosciences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184, p. 105510, 2025.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B0BFF-43F2-3777-5857-5FDA97FEE5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52001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97C1-8243-C0E1-C58E-ADFC2ED4E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Q/A?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B25176-7303-37BE-36BC-0944D622F9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90416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7772-942F-9F83-0A02-66B582E4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505D-A384-8089-26CC-92511935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D31A7-454C-20F5-D989-8F2AB66B63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26890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1692</Words>
  <Application>Microsoft Office PowerPoint</Application>
  <PresentationFormat>On-screen Show (4:3)</PresentationFormat>
  <Paragraphs>150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Archivo Narrow</vt:lpstr>
      <vt:lpstr>Georgia</vt:lpstr>
      <vt:lpstr>Book Antiqua</vt:lpstr>
      <vt:lpstr>Times New Roman</vt:lpstr>
      <vt:lpstr>Simple Light</vt:lpstr>
      <vt:lpstr>Spatiotemporal Digital Twins for Predictive Disaster Intelligence</vt:lpstr>
      <vt:lpstr>Agenda</vt:lpstr>
      <vt:lpstr>Abstract</vt:lpstr>
      <vt:lpstr>Problem Statement</vt:lpstr>
      <vt:lpstr>Objectives</vt:lpstr>
      <vt:lpstr>Literature Review / Background Study</vt:lpstr>
      <vt:lpstr>Literature Review / Background Study</vt:lpstr>
      <vt:lpstr>Literature Review / Background Study</vt:lpstr>
      <vt:lpstr>Literature Review / Background Study</vt:lpstr>
      <vt:lpstr>Hardware Requirements</vt:lpstr>
      <vt:lpstr>Software Requirements</vt:lpstr>
      <vt:lpstr>Timeline</vt:lpstr>
      <vt:lpstr>Timeline</vt:lpstr>
      <vt:lpstr>References</vt:lpstr>
      <vt:lpstr>References</vt:lpstr>
      <vt:lpstr>Q/A?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 and Project Management (CS832E02)</dc:title>
  <dc:creator>Bijeesh</dc:creator>
  <cp:lastModifiedBy>Indla Sai Sneha</cp:lastModifiedBy>
  <cp:revision>61</cp:revision>
  <dcterms:modified xsi:type="dcterms:W3CDTF">2026-07-20T07:20:43Z</dcterms:modified>
</cp:coreProperties>
</file>